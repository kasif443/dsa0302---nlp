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2" r:id="rId4"/>
    <p:sldId id="273" r:id="rId5"/>
    <p:sldId id="274" r:id="rId6"/>
    <p:sldId id="275" r:id="rId7"/>
    <p:sldId id="276" r:id="rId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552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2349" y="461899"/>
            <a:ext cx="252730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10815319" cy="178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lassroom.google.com/c/ODcwMzIwMjE4NDIw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2991922"/>
            <a:ext cx="10134600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br>
              <a:rPr lang="en-US" sz="3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53400" y="5601929"/>
            <a:ext cx="4495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en-IN" sz="22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12700" marR="5080">
              <a:lnSpc>
                <a:spcPct val="100000"/>
              </a:lnSpc>
            </a:pPr>
            <a:r>
              <a:rPr lang="en-IN" sz="22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Kasif Jalal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4FEC1F-4FDC-896A-7E60-D3C9ADE9FEBB}"/>
              </a:ext>
            </a:extLst>
          </p:cNvPr>
          <p:cNvSpPr txBox="1"/>
          <p:nvPr/>
        </p:nvSpPr>
        <p:spPr>
          <a:xfrm>
            <a:off x="3867487" y="437097"/>
            <a:ext cx="419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lang="en-IN" sz="2800" b="1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1C718-4829-8F27-458D-4B977F970D2F}"/>
              </a:ext>
            </a:extLst>
          </p:cNvPr>
          <p:cNvSpPr txBox="1"/>
          <p:nvPr/>
        </p:nvSpPr>
        <p:spPr>
          <a:xfrm>
            <a:off x="3505200" y="1219200"/>
            <a:ext cx="518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SAVEETHA INSTITUTE OF MEDICAL AND TECHNICAL SCIENCES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DB48D-063D-C0EF-80A4-1117F7225FB0}"/>
              </a:ext>
            </a:extLst>
          </p:cNvPr>
          <p:cNvSpPr txBox="1"/>
          <p:nvPr/>
        </p:nvSpPr>
        <p:spPr>
          <a:xfrm>
            <a:off x="1245154" y="1823204"/>
            <a:ext cx="94356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spc="-35" dirty="0">
                <a:latin typeface="Times New Roman"/>
                <a:cs typeface="Times New Roman"/>
              </a:rPr>
              <a:t>Technical </a:t>
            </a:r>
            <a:r>
              <a:rPr lang="en-IN" sz="2800" b="1" spc="-10" dirty="0">
                <a:latin typeface="Times New Roman"/>
                <a:cs typeface="Times New Roman"/>
              </a:rPr>
              <a:t>presentation</a:t>
            </a:r>
          </a:p>
          <a:p>
            <a:pPr algn="ctr"/>
            <a:endParaRPr lang="en-IN" sz="2800" b="1" spc="-10" dirty="0">
              <a:latin typeface="Times New Roman"/>
              <a:cs typeface="Times New Roman"/>
            </a:endParaRPr>
          </a:p>
          <a:p>
            <a:pPr algn="ctr"/>
            <a:r>
              <a:rPr lang="en-GB" sz="2800" b="1" dirty="0"/>
              <a:t>Morphological Analysis for Indian Languages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6F5C6F-8980-0442-15E6-F643B8EB5701}"/>
              </a:ext>
            </a:extLst>
          </p:cNvPr>
          <p:cNvSpPr txBox="1"/>
          <p:nvPr/>
        </p:nvSpPr>
        <p:spPr>
          <a:xfrm>
            <a:off x="3314700" y="3313163"/>
            <a:ext cx="5562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b="0" i="0" strike="noStrike" spc="0" dirty="0">
              <a:effectLst/>
              <a:latin typeface="Google Sans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en-IN" sz="2400" b="1" dirty="0"/>
              <a:t>DSA0302 - NATURAL LANGUAGE PROCESSING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FDE49D-2CA3-5456-6814-685014BF63A5}"/>
              </a:ext>
            </a:extLst>
          </p:cNvPr>
          <p:cNvSpPr txBox="1"/>
          <p:nvPr/>
        </p:nvSpPr>
        <p:spPr>
          <a:xfrm>
            <a:off x="377017" y="5492923"/>
            <a:ext cx="632705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en-IN" sz="22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marL="12700" marR="5080">
              <a:lnSpc>
                <a:spcPct val="100000"/>
              </a:lnSpc>
            </a:pPr>
            <a:r>
              <a:rPr lang="en-IN" sz="22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T. Devi</a:t>
            </a:r>
          </a:p>
          <a:p>
            <a:pPr marL="12700" marR="5080">
              <a:lnSpc>
                <a:spcPct val="100000"/>
              </a:lnSpc>
            </a:pPr>
            <a:endParaRPr lang="en-IN" sz="2200" b="1" spc="-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8773" y="461899"/>
            <a:ext cx="28536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9143" y="1447800"/>
            <a:ext cx="6787057" cy="4789772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r>
              <a:rPr lang="en-GB" sz="2000" b="1" dirty="0"/>
              <a:t>What is Morphological Analysis?</a:t>
            </a:r>
          </a:p>
          <a:p>
            <a:r>
              <a:rPr lang="en-GB" sz="2000" dirty="0"/>
              <a:t>Morphological Analysis is the process of identifying the internal structure of words by separating them into </a:t>
            </a:r>
            <a:r>
              <a:rPr lang="en-GB" sz="2000" b="1" dirty="0"/>
              <a:t>morphemes</a:t>
            </a:r>
            <a:r>
              <a:rPr lang="en-GB" sz="2000" dirty="0"/>
              <a:t>, the smallest units of meaning.</a:t>
            </a:r>
          </a:p>
          <a:p>
            <a:endParaRPr lang="en-GB" sz="2000" dirty="0"/>
          </a:p>
          <a:p>
            <a:r>
              <a:rPr lang="en-GB" sz="2000" b="1" dirty="0"/>
              <a:t>A word consists of:</a:t>
            </a:r>
          </a:p>
          <a:p>
            <a:r>
              <a:rPr lang="en-GB" sz="2000" b="1" dirty="0"/>
              <a:t>Root/Stem</a:t>
            </a:r>
            <a:r>
              <a:rPr lang="en-GB" sz="2000" dirty="0"/>
              <a:t> – Basic meaning </a:t>
            </a:r>
          </a:p>
          <a:p>
            <a:r>
              <a:rPr lang="en-GB" sz="2000" b="1" dirty="0"/>
              <a:t>Prefix</a:t>
            </a:r>
            <a:r>
              <a:rPr lang="en-GB" sz="2000" dirty="0"/>
              <a:t> – Added before the root </a:t>
            </a:r>
          </a:p>
          <a:p>
            <a:r>
              <a:rPr lang="en-GB" sz="2000" b="1" dirty="0"/>
              <a:t>Suffix</a:t>
            </a:r>
            <a:r>
              <a:rPr lang="en-GB" sz="2000" dirty="0"/>
              <a:t> – Added after the root </a:t>
            </a:r>
          </a:p>
          <a:p>
            <a:endParaRPr lang="en-GB" sz="2000" dirty="0"/>
          </a:p>
          <a:p>
            <a:r>
              <a:rPr lang="en-GB" sz="2000" b="1" dirty="0"/>
              <a:t>Why is it important for Indian Languages?</a:t>
            </a:r>
          </a:p>
          <a:p>
            <a:r>
              <a:rPr lang="en-GB" sz="2000" dirty="0"/>
              <a:t>Indian languages such as </a:t>
            </a:r>
            <a:r>
              <a:rPr lang="en-GB" sz="2000" b="1" dirty="0"/>
              <a:t>Tamil, Hindi, Telugu, Kannada, and Malayalam</a:t>
            </a:r>
            <a:r>
              <a:rPr lang="en-GB" sz="2000" dirty="0"/>
              <a:t> are </a:t>
            </a:r>
            <a:r>
              <a:rPr lang="en-GB" sz="2000" b="1" dirty="0"/>
              <a:t>morphologically rich</a:t>
            </a:r>
            <a:r>
              <a:rPr lang="en-GB" sz="2000" dirty="0"/>
              <a:t>, where a single root word can produce hundreds of word forms through suffixes.</a:t>
            </a:r>
          </a:p>
          <a:p>
            <a:endParaRPr lang="en-GB" sz="24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80397C-40EC-FD1F-126A-C4B52187EAE4}"/>
              </a:ext>
            </a:extLst>
          </p:cNvPr>
          <p:cNvSpPr txBox="1"/>
          <p:nvPr/>
        </p:nvSpPr>
        <p:spPr>
          <a:xfrm>
            <a:off x="8077200" y="1828800"/>
            <a:ext cx="2743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படித்தவர்களிடம்</a:t>
            </a:r>
            <a:endParaRPr lang="en-IN" dirty="0"/>
          </a:p>
          <a:p>
            <a:endParaRPr lang="en-IN" dirty="0"/>
          </a:p>
          <a:p>
            <a:r>
              <a:rPr lang="en-IN" dirty="0"/>
              <a:t>↓</a:t>
            </a:r>
          </a:p>
          <a:p>
            <a:endParaRPr lang="en-IN" dirty="0"/>
          </a:p>
          <a:p>
            <a:r>
              <a:rPr lang="en-IN" dirty="0" err="1"/>
              <a:t>படி</a:t>
            </a:r>
            <a:r>
              <a:rPr lang="en-IN" dirty="0"/>
              <a:t> (Root)</a:t>
            </a:r>
          </a:p>
          <a:p>
            <a:r>
              <a:rPr lang="en-IN" dirty="0"/>
              <a:t>+</a:t>
            </a:r>
          </a:p>
          <a:p>
            <a:r>
              <a:rPr lang="en-IN" dirty="0" err="1"/>
              <a:t>த்</a:t>
            </a:r>
            <a:r>
              <a:rPr lang="en-IN" dirty="0"/>
              <a:t> (Past tense)</a:t>
            </a:r>
          </a:p>
          <a:p>
            <a:r>
              <a:rPr lang="en-IN" dirty="0"/>
              <a:t>+</a:t>
            </a:r>
          </a:p>
          <a:p>
            <a:r>
              <a:rPr lang="en-IN" dirty="0" err="1"/>
              <a:t>வர்</a:t>
            </a:r>
            <a:r>
              <a:rPr lang="en-IN" dirty="0"/>
              <a:t> (Person)</a:t>
            </a:r>
          </a:p>
          <a:p>
            <a:r>
              <a:rPr lang="en-IN" dirty="0"/>
              <a:t>+</a:t>
            </a:r>
          </a:p>
          <a:p>
            <a:r>
              <a:rPr lang="en-IN" dirty="0" err="1"/>
              <a:t>கள்</a:t>
            </a:r>
            <a:r>
              <a:rPr lang="en-IN" dirty="0"/>
              <a:t> (Plural)</a:t>
            </a:r>
          </a:p>
          <a:p>
            <a:r>
              <a:rPr lang="en-IN" dirty="0"/>
              <a:t>+</a:t>
            </a:r>
          </a:p>
          <a:p>
            <a:r>
              <a:rPr lang="en-IN" dirty="0" err="1"/>
              <a:t>இடம்</a:t>
            </a:r>
            <a:r>
              <a:rPr lang="en-IN" dirty="0"/>
              <a:t> (Case Marker)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11A3F-AE6F-2D2D-1DD0-8805F84F4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CAB9B61-C8B1-AEC4-461F-55BE2910F9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38400" y="398999"/>
            <a:ext cx="6858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IN" sz="4000" dirty="0"/>
              <a:t>Technical Working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6FC78AA-40C6-CE70-7EF8-10102F84D49B}"/>
              </a:ext>
            </a:extLst>
          </p:cNvPr>
          <p:cNvSpPr txBox="1"/>
          <p:nvPr/>
        </p:nvSpPr>
        <p:spPr>
          <a:xfrm>
            <a:off x="1777122" y="1371600"/>
            <a:ext cx="2806964" cy="4728216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r>
              <a:rPr lang="en-IN" sz="1500" b="1" dirty="0"/>
              <a:t>Morphological Analysis Pipeline</a:t>
            </a:r>
          </a:p>
          <a:p>
            <a:r>
              <a:rPr lang="en-IN" sz="1500" dirty="0"/>
              <a:t>Input Word</a:t>
            </a:r>
          </a:p>
          <a:p>
            <a:r>
              <a:rPr lang="en-IN" sz="1500" dirty="0"/>
              <a:t>      │</a:t>
            </a:r>
          </a:p>
          <a:p>
            <a:r>
              <a:rPr lang="en-IN" sz="1500" dirty="0"/>
              <a:t>      ▼</a:t>
            </a:r>
          </a:p>
          <a:p>
            <a:r>
              <a:rPr lang="en-IN" sz="1500" dirty="0"/>
              <a:t>Tokenization</a:t>
            </a:r>
          </a:p>
          <a:p>
            <a:r>
              <a:rPr lang="en-IN" sz="1500" dirty="0"/>
              <a:t>      │</a:t>
            </a:r>
          </a:p>
          <a:p>
            <a:r>
              <a:rPr lang="en-IN" sz="1500" dirty="0"/>
              <a:t>      ▼</a:t>
            </a:r>
          </a:p>
          <a:p>
            <a:r>
              <a:rPr lang="en-IN" sz="1500" dirty="0"/>
              <a:t>Morphological Analyzer</a:t>
            </a:r>
          </a:p>
          <a:p>
            <a:r>
              <a:rPr lang="en-IN" sz="1500" dirty="0"/>
              <a:t>      │</a:t>
            </a:r>
          </a:p>
          <a:p>
            <a:r>
              <a:rPr lang="en-IN" sz="1500" dirty="0"/>
              <a:t>      ▼</a:t>
            </a:r>
          </a:p>
          <a:p>
            <a:r>
              <a:rPr lang="en-IN" sz="1500" dirty="0"/>
              <a:t>Root Word Detection</a:t>
            </a:r>
          </a:p>
          <a:p>
            <a:r>
              <a:rPr lang="en-IN" sz="1500" dirty="0"/>
              <a:t>      │</a:t>
            </a:r>
          </a:p>
          <a:p>
            <a:r>
              <a:rPr lang="en-IN" sz="1500" dirty="0"/>
              <a:t>      ▼</a:t>
            </a:r>
          </a:p>
          <a:p>
            <a:r>
              <a:rPr lang="en-IN" sz="1500" dirty="0"/>
              <a:t>Prefix/Suffix Identification</a:t>
            </a:r>
          </a:p>
          <a:p>
            <a:r>
              <a:rPr lang="en-IN" sz="1500" dirty="0"/>
              <a:t>      │</a:t>
            </a:r>
          </a:p>
          <a:p>
            <a:r>
              <a:rPr lang="en-IN" sz="1500" dirty="0"/>
              <a:t>      ▼</a:t>
            </a:r>
          </a:p>
          <a:p>
            <a:r>
              <a:rPr lang="en-IN" sz="1500" dirty="0"/>
              <a:t>Morphological Features</a:t>
            </a:r>
          </a:p>
          <a:p>
            <a:r>
              <a:rPr lang="en-IN" sz="1500" dirty="0"/>
              <a:t>      │</a:t>
            </a:r>
          </a:p>
          <a:p>
            <a:r>
              <a:rPr lang="en-IN" sz="1500" dirty="0"/>
              <a:t>      ▼</a:t>
            </a:r>
          </a:p>
          <a:p>
            <a:r>
              <a:rPr lang="en-IN" sz="1500" dirty="0"/>
              <a:t>Output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F44F748-B89A-8496-F319-F4AF180EE2F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58519532-9258-1D64-83C7-BF2D16A631A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B387D22-7138-B198-E9BD-3E332CAE6F61}"/>
              </a:ext>
            </a:extLst>
          </p:cNvPr>
          <p:cNvSpPr txBox="1"/>
          <p:nvPr/>
        </p:nvSpPr>
        <p:spPr>
          <a:xfrm>
            <a:off x="5585252" y="1427384"/>
            <a:ext cx="36115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Processing Steps:</a:t>
            </a:r>
          </a:p>
          <a:p>
            <a:endParaRPr lang="en-IN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Read the input word.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Match it with a lexical dictionary.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Detect prefixes and suffixes.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Extract grammatical information.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Return the root word and features. </a:t>
            </a:r>
          </a:p>
        </p:txBody>
      </p:sp>
    </p:spTree>
    <p:extLst>
      <p:ext uri="{BB962C8B-B14F-4D97-AF65-F5344CB8AC3E}">
        <p14:creationId xmlns:p14="http://schemas.microsoft.com/office/powerpoint/2010/main" val="2734925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963F-4AB1-5E7F-5CB1-E5A9EC254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1E26305-9C03-2B49-3707-9E782FD760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38400" y="398999"/>
            <a:ext cx="6858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IN" sz="4000" dirty="0"/>
              <a:t>Algorithm with Example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1A71A26-E239-62DD-1628-F2C590B500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C85A5023-420C-14CC-8DA2-C71CF5D7DAB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126798-17B9-5E14-D029-2269969DDEA8}"/>
              </a:ext>
            </a:extLst>
          </p:cNvPr>
          <p:cNvSpPr txBox="1"/>
          <p:nvPr/>
        </p:nvSpPr>
        <p:spPr>
          <a:xfrm>
            <a:off x="1288961" y="1981200"/>
            <a:ext cx="4800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Rule-Based Morphological Analysis:</a:t>
            </a:r>
          </a:p>
          <a:p>
            <a:r>
              <a:rPr lang="en-GB" sz="2000" b="1" dirty="0"/>
              <a:t>Algorithm:</a:t>
            </a:r>
          </a:p>
          <a:p>
            <a:endParaRPr lang="en-GB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Input a word.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Search the root word in the dictionary.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Remove suffixes using predefined rules.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Identify grammatical features.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Produce the root and morphology.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5288D8-D92F-21D9-B8A2-A2704EB65DF2}"/>
              </a:ext>
            </a:extLst>
          </p:cNvPr>
          <p:cNvSpPr txBox="1"/>
          <p:nvPr/>
        </p:nvSpPr>
        <p:spPr>
          <a:xfrm>
            <a:off x="7086600" y="1520785"/>
            <a:ext cx="35814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Example (Tamil):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sz="2200" b="1" dirty="0"/>
              <a:t>Input:</a:t>
            </a:r>
          </a:p>
          <a:p>
            <a:pPr rtl="0">
              <a:buNone/>
            </a:pPr>
            <a:r>
              <a:rPr lang="ta-IN" sz="1600" dirty="0">
                <a:latin typeface="Courier New" panose="02070309020205020404" pitchFamily="49" charset="0"/>
              </a:rPr>
              <a:t>மரங்களில்</a:t>
            </a:r>
            <a:endParaRPr lang="en-GB" sz="1600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ta-IN" sz="16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sz="2200" b="1" dirty="0"/>
              <a:t>Output: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Root : </a:t>
            </a:r>
            <a:r>
              <a:rPr lang="ta-IN" sz="1500" b="1" dirty="0">
                <a:latin typeface="Courier New" panose="02070309020205020404" pitchFamily="49" charset="0"/>
              </a:rPr>
              <a:t>மரம்</a:t>
            </a:r>
          </a:p>
          <a:p>
            <a:pPr rtl="0">
              <a:buNone/>
            </a:pPr>
            <a:endParaRPr lang="ta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Suffix : </a:t>
            </a:r>
            <a:r>
              <a:rPr lang="ta-IN" sz="1500" b="1" dirty="0">
                <a:latin typeface="Courier New" panose="02070309020205020404" pitchFamily="49" charset="0"/>
              </a:rPr>
              <a:t>கள்</a:t>
            </a:r>
          </a:p>
          <a:p>
            <a:pPr rtl="0">
              <a:buNone/>
            </a:pPr>
            <a:endParaRPr lang="ta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Case : </a:t>
            </a:r>
            <a:r>
              <a:rPr lang="ta-IN" sz="1600" b="1" dirty="0">
                <a:latin typeface="Courier New" panose="02070309020205020404" pitchFamily="49" charset="0"/>
              </a:rPr>
              <a:t>இல்</a:t>
            </a:r>
          </a:p>
          <a:p>
            <a:pPr rtl="0">
              <a:buNone/>
            </a:pPr>
            <a:endParaRPr lang="ta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Meaning : In the trees</a:t>
            </a:r>
          </a:p>
        </p:txBody>
      </p:sp>
    </p:spTree>
    <p:extLst>
      <p:ext uri="{BB962C8B-B14F-4D97-AF65-F5344CB8AC3E}">
        <p14:creationId xmlns:p14="http://schemas.microsoft.com/office/powerpoint/2010/main" val="2611556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FB032-D019-E1FC-E121-7C103A2B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18601A6-4A37-0E84-C535-6CE585869D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38400" y="398999"/>
            <a:ext cx="6858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IN" sz="4000" dirty="0"/>
              <a:t>NLP Applications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D188864-AF03-1FE2-1212-5569EB30365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7B6C8939-3B6A-1065-7C8D-6646140EF6C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DF089E-18EF-9183-D8FC-B19520C5EE7B}"/>
              </a:ext>
            </a:extLst>
          </p:cNvPr>
          <p:cNvSpPr txBox="1"/>
          <p:nvPr/>
        </p:nvSpPr>
        <p:spPr>
          <a:xfrm>
            <a:off x="1600200" y="1981200"/>
            <a:ext cx="609814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NLP Applications:</a:t>
            </a:r>
          </a:p>
          <a:p>
            <a:endParaRPr lang="en-GB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Machine Translation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Spell Checking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Speech Recognition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Text-to-Speech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Search Engines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Information Retrieval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Question Answering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Chatbots</a:t>
            </a:r>
          </a:p>
        </p:txBody>
      </p:sp>
    </p:spTree>
    <p:extLst>
      <p:ext uri="{BB962C8B-B14F-4D97-AF65-F5344CB8AC3E}">
        <p14:creationId xmlns:p14="http://schemas.microsoft.com/office/powerpoint/2010/main" val="2882555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25224-BA50-7287-CECA-9A485D4D3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EE4144-8483-13AC-4FC9-FE8F5974F4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38400" y="398999"/>
            <a:ext cx="6858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3AB564A-A879-EDBB-BC7F-B478BCFC586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28C03742-4B62-B8E2-F9E3-BCBE7185AEF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73D254-B0D3-7F12-E984-3FD412BCB3F4}"/>
              </a:ext>
            </a:extLst>
          </p:cNvPr>
          <p:cNvSpPr txBox="1"/>
          <p:nvPr/>
        </p:nvSpPr>
        <p:spPr>
          <a:xfrm>
            <a:off x="1825434" y="1219200"/>
            <a:ext cx="94488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/>
              <a:t>Advantages: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500" dirty="0"/>
              <a:t>Improves NLP accuracy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500" dirty="0"/>
              <a:t>Handles rich morphology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500" dirty="0"/>
              <a:t>Reduces vocabulary size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500" dirty="0"/>
              <a:t>Better machine translation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500" dirty="0"/>
              <a:t>Supports multilingual systems </a:t>
            </a:r>
          </a:p>
          <a:p>
            <a:endParaRPr lang="en-IN" sz="2500" dirty="0"/>
          </a:p>
          <a:p>
            <a:r>
              <a:rPr lang="en-IN" sz="2500" b="1" dirty="0"/>
              <a:t>Challenges: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500" dirty="0"/>
              <a:t>Complex suffix combinations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500" dirty="0"/>
              <a:t>Multiple meanings of words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500" dirty="0"/>
              <a:t>Language-specific grammar rules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500" dirty="0"/>
              <a:t>Large lexical database required</a:t>
            </a:r>
          </a:p>
        </p:txBody>
      </p:sp>
    </p:spTree>
    <p:extLst>
      <p:ext uri="{BB962C8B-B14F-4D97-AF65-F5344CB8AC3E}">
        <p14:creationId xmlns:p14="http://schemas.microsoft.com/office/powerpoint/2010/main" val="3911452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E1FFA-3838-6868-C1BB-A458FFE82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B0A88C-2943-4969-55D8-01A21CEC98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38400" y="398999"/>
            <a:ext cx="6858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Reference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62853CC-51ED-C988-9BD4-6A1314E216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09C23C1-FB5A-1FFB-A39A-D6F69743ECA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33A207-1739-B55D-086C-3363BBA0E616}"/>
              </a:ext>
            </a:extLst>
          </p:cNvPr>
          <p:cNvSpPr txBox="1"/>
          <p:nvPr/>
        </p:nvSpPr>
        <p:spPr>
          <a:xfrm>
            <a:off x="1295400" y="1534540"/>
            <a:ext cx="9144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Conclusion: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Morphological Analysis is a core NLP preprocessing technique.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It identifies the </a:t>
            </a:r>
            <a:r>
              <a:rPr lang="en-GB" sz="2000" b="1" dirty="0"/>
              <a:t>root word</a:t>
            </a:r>
            <a:r>
              <a:rPr lang="en-GB" sz="2000" dirty="0"/>
              <a:t>, </a:t>
            </a:r>
            <a:r>
              <a:rPr lang="en-GB" sz="2000" b="1" dirty="0"/>
              <a:t>prefixes</a:t>
            </a:r>
            <a:r>
              <a:rPr lang="en-GB" sz="2000" dirty="0"/>
              <a:t>, </a:t>
            </a:r>
            <a:r>
              <a:rPr lang="en-GB" sz="2000" b="1" dirty="0"/>
              <a:t>suffixes</a:t>
            </a:r>
            <a:r>
              <a:rPr lang="en-GB" sz="2000" dirty="0"/>
              <a:t>, and </a:t>
            </a:r>
            <a:r>
              <a:rPr lang="en-GB" sz="2000" b="1" dirty="0"/>
              <a:t>grammatical information</a:t>
            </a:r>
            <a:r>
              <a:rPr lang="en-GB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It is especially important for </a:t>
            </a:r>
            <a:r>
              <a:rPr lang="en-GB" sz="2000" b="1" dirty="0"/>
              <a:t>Indian languages</a:t>
            </a:r>
            <a:r>
              <a:rPr lang="en-GB" sz="2000" dirty="0"/>
              <a:t>, which have rich and complex word structures.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It improves the performance of applications such as </a:t>
            </a:r>
            <a:r>
              <a:rPr lang="en-GB" sz="2000" b="1" dirty="0"/>
              <a:t>machine translation, search engines, spell checkers, and voice assistants</a:t>
            </a:r>
            <a:r>
              <a:rPr lang="en-GB" sz="20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BEFB6-3ECD-2792-BFDF-07E65B7EA224}"/>
              </a:ext>
            </a:extLst>
          </p:cNvPr>
          <p:cNvSpPr txBox="1"/>
          <p:nvPr/>
        </p:nvSpPr>
        <p:spPr>
          <a:xfrm>
            <a:off x="1295400" y="4038600"/>
            <a:ext cx="60981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References: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/>
              <a:t>Jurafsky</a:t>
            </a:r>
            <a:r>
              <a:rPr lang="en-IN" sz="2000" dirty="0"/>
              <a:t> &amp; Martin – </a:t>
            </a:r>
            <a:r>
              <a:rPr lang="en-IN" sz="2000" i="1" dirty="0"/>
              <a:t>Speech and Language Processing</a:t>
            </a:r>
            <a:r>
              <a:rPr lang="en-IN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NLTK Documentation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Indian Language Corpora Initiative (ILCI)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Research papers on Morphological Analysis for Indian Languages</a:t>
            </a:r>
          </a:p>
        </p:txBody>
      </p:sp>
    </p:spTree>
    <p:extLst>
      <p:ext uri="{BB962C8B-B14F-4D97-AF65-F5344CB8AC3E}">
        <p14:creationId xmlns:p14="http://schemas.microsoft.com/office/powerpoint/2010/main" val="3048758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</TotalTime>
  <Words>440</Words>
  <Application>Microsoft Office PowerPoint</Application>
  <PresentationFormat>Widescreen</PresentationFormat>
  <Paragraphs>121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Courier New</vt:lpstr>
      <vt:lpstr>Google Sans</vt:lpstr>
      <vt:lpstr>Times New Roman</vt:lpstr>
      <vt:lpstr>Office Theme</vt:lpstr>
      <vt:lpstr> </vt:lpstr>
      <vt:lpstr>Introduction</vt:lpstr>
      <vt:lpstr>Technical Working</vt:lpstr>
      <vt:lpstr>Algorithm with Example</vt:lpstr>
      <vt:lpstr>NLP Applications</vt:lpstr>
      <vt:lpstr>Advantages and Limitations</vt:lpstr>
      <vt:lpstr>Conclusion and 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Jayasree U</cp:lastModifiedBy>
  <cp:revision>14</cp:revision>
  <dcterms:created xsi:type="dcterms:W3CDTF">2025-03-19T13:35:36Z</dcterms:created>
  <dcterms:modified xsi:type="dcterms:W3CDTF">2026-07-15T04:58:11Z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2025-03-19T00:00:00Z</vt:filetime>
  </property>
</Properties>
</file>